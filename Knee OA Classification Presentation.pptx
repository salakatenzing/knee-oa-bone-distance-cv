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Urbanis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italic.fntdata"/><Relationship Id="rId6" Type="http://schemas.openxmlformats.org/officeDocument/2006/relationships/slide" Target="slides/slide1.xml"/><Relationship Id="rId18" Type="http://schemas.openxmlformats.org/officeDocument/2006/relationships/font" Target="fonts/Urbanis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1d54d0f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91d54d0f4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9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0.png"/><Relationship Id="rId8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4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2263229"/>
            <a:ext cx="11601450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Knee OA Classification Using </a:t>
            </a:r>
            <a:r>
              <a:rPr b="1" i="0" lang="en-US" sz="5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Bone Distance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000351"/>
            <a:ext cx="762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CS 671 Final Project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474350" y="5524351"/>
            <a:ext cx="76200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Tenzing Salaka</a:t>
            </a:r>
            <a:endParaRPr sz="1800">
              <a:solidFill>
                <a:srgbClr val="E0E0E0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Sajud Hamza</a:t>
            </a:r>
            <a:endParaRPr sz="1800">
              <a:solidFill>
                <a:srgbClr val="E0E0E0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0E0E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0800"/>
            <a:ext cx="523875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590800"/>
            <a:ext cx="523875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62025" y="298132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Clinical Problem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3495675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Knee Osteoarthritis (OA) is measured by Kellgren-Lawrence (KL) grades (0-4). Grade 4 represents severe "bone-on-bone" contact. Accurate classification is critical for timely intervention.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72275" y="298132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Vision Approach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72275" y="3495675"/>
            <a:ext cx="4457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Cartilage thickness is the key biomarker. </a:t>
            </a:r>
            <a:r>
              <a:rPr lang="en-US" sz="15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W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e measure the </a:t>
            </a: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minimum distance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between the femur and tibia </a:t>
            </a:r>
            <a:r>
              <a:rPr lang="en-US" sz="15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to find the Cartilage thickness.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Problem &amp;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Approach</a:t>
            </a:r>
            <a:endParaRPr/>
          </a:p>
        </p:txBody>
      </p:sp>
      <p:pic>
        <p:nvPicPr>
          <p:cNvPr id="100" name="Google Shape;100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28759" y="82150"/>
            <a:ext cx="2415775" cy="240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087500" y="82150"/>
            <a:ext cx="2533008" cy="240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8620500" y="61186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Tenzing Salaka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43175"/>
            <a:ext cx="3492549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43175"/>
            <a:ext cx="3492549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43175"/>
            <a:ext cx="3492549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866775" y="3476625"/>
            <a:ext cx="304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1. </a:t>
            </a:r>
            <a:r>
              <a:rPr b="1" lang="en-US" sz="18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Input Sequence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66775" y="394335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Input sequence of MRI bone masks (Femur &amp; Tibia) generated via U-Net. 160 slices per patient.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645074" y="347662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2. Measurement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645074" y="3943350"/>
            <a:ext cx="2901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Compute minimum Joint Space Width  for every valid slice using Distance Transform.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423374" y="347662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3. Classification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423374" y="394335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Train a Multilayer Perceptron (MLP) on the distance feature vectors to predict OA.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85750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8575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8575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System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Pipeline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620500" y="61186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Tenzing Salaka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36143"/>
            <a:ext cx="3915667" cy="59531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71500" y="2331243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We utilize the Euclidean Distance Transform (EDT) for efficiency.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626643"/>
            <a:ext cx="3534667" cy="21431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914400" y="4374356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52500" y="4374356"/>
            <a:ext cx="4857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Step 1: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Calculate Distance Map (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D_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Tibia) for the entire image.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14400" y="4983956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52500" y="4983956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Step 2: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Sample map at Femur pixel locations.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14400" y="5288756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52500" y="5288756"/>
            <a:ext cx="485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Step 3: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Find global minimum.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Initial </a:t>
            </a: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Distance only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Algorithm</a:t>
            </a:r>
            <a:endParaRPr/>
          </a:p>
        </p:txBody>
      </p:sp>
      <p:pic>
        <p:nvPicPr>
          <p:cNvPr id="137" name="Google Shape;13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65980" y="2331250"/>
            <a:ext cx="6324821" cy="34409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8620500" y="61186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Tenzing Salaka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38400"/>
            <a:ext cx="5238750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438400"/>
            <a:ext cx="5238750" cy="30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962025" y="282892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Flaw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962025" y="3343275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Initial analysis showed a systemic issue with Grade 4 (Severe OA) cases. The segmentation model merged the touching Femur and Tibia into </a:t>
            </a: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one single component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. Our original logic discarded these as "noise" (&lt; 2 bones).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772275" y="282892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Consequence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772275" y="3343275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The model was effectively blind to the most severe cases of disease. Initial classification accuracy was stuck at </a:t>
            </a: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76.1%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because the defining feature of severe OA (fusion) was being filtered out.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Critical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Discovery</a:t>
            </a:r>
            <a:endParaRPr/>
          </a:p>
        </p:txBody>
      </p:sp>
      <p:pic>
        <p:nvPicPr>
          <p:cNvPr id="151" name="Google Shape;151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8150" y="190513"/>
            <a:ext cx="2476500" cy="17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41700" y="190525"/>
            <a:ext cx="1802550" cy="180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8620500" y="61186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Tenzing Salaka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571500" y="1152525"/>
            <a:ext cx="5200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Adaptive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Fusion Logic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571500" y="2085975"/>
            <a:ext cx="4953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We </a:t>
            </a:r>
            <a:r>
              <a:rPr lang="en-US" sz="15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came up with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 solution based on physical properties using the </a:t>
            </a: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Ratio_to_Avg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metric (Component Area / Average Femur Area).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71500" y="4295775"/>
            <a:ext cx="49530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Validation: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We isolated images with `Ratio_to_Avg &gt; 1.7`. Visual inspection confirmed </a:t>
            </a:r>
            <a:r>
              <a:rPr lang="en-US" sz="15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majority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of these cases were fused bones, validating the statistical baseline (Avg vs Max).</a:t>
            </a:r>
            <a:endParaRPr b="0" i="0" sz="1500" u="none" cap="none" strike="noStrike">
              <a:solidFill>
                <a:srgbClr val="E0E0E0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Remark** There are some images around the ratio 1.7 that have minimal distance </a:t>
            </a:r>
            <a:r>
              <a:rPr lang="en-US" sz="15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almost</a:t>
            </a:r>
            <a:r>
              <a:rPr lang="en-US" sz="15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close to zero. These are not fused bones therefore on average might add  error rates.</a:t>
            </a:r>
            <a:endParaRPr sz="1500">
              <a:solidFill>
                <a:srgbClr val="E0E0E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914400" y="31908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952500" y="3190875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Ratio &gt; 1.7: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Data analysis confirmed these are </a:t>
            </a: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FUSED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(Distance = 0).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914400" y="38004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952500" y="380047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Ratio &lt; 0.5: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Confirmed as </a:t>
            </a: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NOISE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(Discard).</a:t>
            </a:r>
            <a:endParaRPr/>
          </a:p>
        </p:txBody>
      </p:sp>
      <p:pic>
        <p:nvPicPr>
          <p:cNvPr id="166" name="Google Shape;16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32050" y="57150"/>
            <a:ext cx="30480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6461525" y="1165500"/>
            <a:ext cx="2191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9581915_109_pred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Ratio_to_Avg = 1.64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32050" y="3381375"/>
            <a:ext cx="30480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6382375" y="4295775"/>
            <a:ext cx="2191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9189986_085_pred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Ratio_to_Avg = 1.74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70" name="Google Shape;170;p18"/>
          <p:cNvSpPr txBox="1"/>
          <p:nvPr/>
        </p:nvSpPr>
        <p:spPr>
          <a:xfrm>
            <a:off x="8620500" y="61186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Tenzing Salaka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386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0750" y="40386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0" y="40386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/>
          <p:nvPr/>
        </p:nvSpPr>
        <p:spPr>
          <a:xfrm>
            <a:off x="571500" y="4133850"/>
            <a:ext cx="110490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4399269" y="2142275"/>
            <a:ext cx="2500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Slice Selection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4518075" y="2547888"/>
            <a:ext cx="23814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Restricted processing to slices 27–137 to avoid incomplete bone artifacts at sequence ends.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9672893" y="4432225"/>
            <a:ext cx="2500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Noise Reduction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9732300" y="4889438"/>
            <a:ext cx="23814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Excluded the middle 40 slices (transition tissues) which confuse the measurement algorithm.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196499" y="4504950"/>
            <a:ext cx="1857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Normalization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196512" y="4861075"/>
            <a:ext cx="1857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Interpolated valid measurements to a fixed vector length of 100 features for MLP input.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Data </a:t>
            </a:r>
            <a:r>
              <a:rPr b="1" lang="en-US" sz="3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Pipeline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9005675" y="63963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Sajud Hamza</a:t>
            </a:r>
            <a:endParaRPr sz="1800">
              <a:solidFill>
                <a:srgbClr val="E0E0E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4953000" y="2500312"/>
            <a:ext cx="7000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Why Neural Networks?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4953000" y="2909887"/>
            <a:ext cx="6667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We selected a </a:t>
            </a: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Multilayer Perceptron (MLP)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because the relationship between bone distance and OA is non-linear.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5295900" y="370998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5334000" y="3709987"/>
            <a:ext cx="6286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Negative Weights: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Learned that increasing distance generally reduces OA probability (healthy gap).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5295900" y="431958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5334000" y="4319587"/>
            <a:ext cx="6286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Positive Weights: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Learned to identify osteophytes (bone spurs) at specific slice locations.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5295900" y="492918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5334000" y="4929187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Validation: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Used 10-Fold Cross-Validation with 200% Resampling.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Classifier: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MLP</a:t>
            </a:r>
            <a:endParaRPr/>
          </a:p>
        </p:txBody>
      </p:sp>
      <p:pic>
        <p:nvPicPr>
          <p:cNvPr id="202" name="Google Shape;20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488" y="2424088"/>
            <a:ext cx="3495675" cy="25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9088675" y="63288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Sajud Hamza</a:t>
            </a:r>
            <a:endParaRPr sz="1800">
              <a:solidFill>
                <a:srgbClr val="E0E0E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Performance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Results </a:t>
            </a:r>
            <a:r>
              <a:rPr b="1" lang="en-US" sz="3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V03KL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9088675" y="63288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Sajud Hamza</a:t>
            </a:r>
            <a:endParaRPr sz="1800">
              <a:solidFill>
                <a:srgbClr val="E0E0E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211" name="Google Shape;21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850" y="1564050"/>
            <a:ext cx="9067800" cy="33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Performance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Results V00</a:t>
            </a:r>
            <a:r>
              <a:rPr b="1" lang="en-US" sz="3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XRKL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933775" y="1722275"/>
            <a:ext cx="10105500" cy="27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9088675" y="63288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Sajud Hamza</a:t>
            </a:r>
            <a:endParaRPr sz="1800">
              <a:solidFill>
                <a:srgbClr val="E0E0E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220" name="Google Shape;22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023" y="1467975"/>
            <a:ext cx="7697951" cy="278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 txBox="1"/>
          <p:nvPr/>
        </p:nvSpPr>
        <p:spPr>
          <a:xfrm>
            <a:off x="457800" y="1669975"/>
            <a:ext cx="51645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0">
                <a:solidFill>
                  <a:srgbClr val="DEFF9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89</a:t>
            </a:r>
            <a:r>
              <a:rPr b="1" i="0" lang="en-US" sz="13500" u="none" cap="none" strike="noStrike">
                <a:solidFill>
                  <a:srgbClr val="DEFF9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13500">
                <a:solidFill>
                  <a:srgbClr val="DEFF9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b="1" i="0" lang="en-US" sz="13500" u="none" cap="none" strike="noStrike">
                <a:solidFill>
                  <a:srgbClr val="DEFF9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%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571500" y="4672012"/>
            <a:ext cx="47148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Classification Accuracy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5857875" y="2767012"/>
            <a:ext cx="50006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Key Achievements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6200775" y="3138487"/>
            <a:ext cx="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6200775" y="374808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6167438" y="3192187"/>
            <a:ext cx="43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Solved the "Fused Bone" edge case using adaptive area thresholding (Ratio &gt; 1.</a:t>
            </a:r>
            <a:r>
              <a:rPr lang="en-US" sz="15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5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6200775" y="435768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6167450" y="3940737"/>
            <a:ext cx="43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Demonstrated that excluding noisy transition slices improves signal quality.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9088675" y="63288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Sajud Hamza</a:t>
            </a:r>
            <a:endParaRPr sz="1800">
              <a:solidFill>
                <a:srgbClr val="E0E0E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